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33A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18288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Projet Data Science - TelcoWave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Prédiction du Churn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6E3F3"/>
                </a:solidFill>
              </a:defRPr>
            </a:pPr>
            <a:r>
              <a:t>Transformer le scoring en actions de rétention ciblées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132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KPI central: precision@10% pour piloter un budget limité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Score exploitable par les équipes Customer Success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Approche: benchmark modèles + calibration des probabilités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03120"/>
            <a:ext cx="3108960" cy="1325880"/>
          </a:xfrm>
          <a:prstGeom prst="roundRect">
            <a:avLst/>
          </a:prstGeom>
          <a:solidFill>
            <a:srgbClr val="17273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E7088"/>
                </a:solidFill>
              </a:defRPr>
            </a:pPr>
            <a:r>
              <a:t>Taux de churn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26,5%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657600"/>
            <a:ext cx="3108960" cy="1325880"/>
          </a:xfrm>
          <a:prstGeom prst="roundRect">
            <a:avLst/>
          </a:prstGeom>
          <a:solidFill>
            <a:srgbClr val="17273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E7088"/>
                </a:solidFill>
              </a:defRPr>
            </a:pPr>
            <a:r>
              <a:t>Top segment ciblé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10% clients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33A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18288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Contexte et enjeu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1726"/>
                </a:solidFill>
              </a:defRPr>
            </a:pPr>
            <a:r>
              <a:t>Le problème métier à résoudre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E7088"/>
                </a:solidFill>
              </a:defRPr>
            </a:pPr>
            <a:r>
              <a:t>Enjeu</a:t>
            </a:r>
          </a:p>
          <a:p>
            <a:pPr>
              <a:defRPr sz="2800" b="1">
                <a:solidFill>
                  <a:srgbClr val="0E1726"/>
                </a:solidFill>
              </a:defRPr>
            </a:pPr>
            <a:r>
              <a:t>Réduire la résiliation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6304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E7088"/>
                </a:solidFill>
              </a:defRPr>
            </a:pPr>
            <a:r>
              <a:t>Contrainte</a:t>
            </a:r>
          </a:p>
          <a:p>
            <a:pPr>
              <a:defRPr sz="2800" b="1">
                <a:solidFill>
                  <a:srgbClr val="0E1726"/>
                </a:solidFill>
              </a:defRPr>
            </a:pPr>
            <a:r>
              <a:t>Budget marketing limité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63040"/>
            <a:ext cx="3108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E7088"/>
                </a:solidFill>
              </a:defRPr>
            </a:pPr>
            <a:r>
              <a:t>Décision</a:t>
            </a:r>
          </a:p>
          <a:p>
            <a:pPr>
              <a:defRPr sz="2800" b="1">
                <a:solidFill>
                  <a:srgbClr val="0E1726"/>
                </a:solidFill>
              </a:defRPr>
            </a:pPr>
            <a:r>
              <a:t>Qui contacter en priorité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45"/>
                </a:solidFill>
              </a:defRPr>
            </a:pPr>
            <a:r>
              <a:t>Un score de risque classe les clients du plus fragile au plus stable.</a:t>
            </a:r>
          </a:p>
          <a:p>
            <a:pPr>
              <a:spcAft>
                <a:spcPts val="800"/>
              </a:spcAft>
              <a:defRPr sz="1800">
                <a:solidFill>
                  <a:srgbClr val="1A2E45"/>
                </a:solidFill>
              </a:defRPr>
            </a:pPr>
            <a:r>
              <a:t>Les actions de rétention sont focalisées sur la population la plus rentable à traiter.</a:t>
            </a:r>
          </a:p>
          <a:p>
            <a:pPr>
              <a:spcAft>
                <a:spcPts val="800"/>
              </a:spcAft>
              <a:defRPr sz="1800">
                <a:solidFill>
                  <a:srgbClr val="1A2E45"/>
                </a:solidFill>
              </a:defRPr>
            </a:pPr>
            <a:r>
              <a:t>Le succès se mesure sur la qualité du ciblage, pas seulement sur l'accuracy globale.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33A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18288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Benchmark modèles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1726"/>
                </a:solidFill>
              </a:defRPr>
            </a:pPr>
            <a:r>
              <a:t>Comparaison de performance des modèles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10607040" cy="4483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33A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18288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Qualité du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1726"/>
                </a:solidFill>
              </a:defRPr>
            </a:pPr>
            <a:r>
              <a:t>Calibration: des probabilités plus fiables</a:t>
            </a:r>
          </a:p>
        </p:txBody>
      </p:sp>
      <p:pic>
        <p:nvPicPr>
          <p:cNvPr id="5" name="Picture 4" descr="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949440" cy="26267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828800"/>
            <a:ext cx="3474720" cy="1325880"/>
          </a:xfrm>
          <a:prstGeom prst="roundRect">
            <a:avLst/>
          </a:prstGeom>
          <a:solidFill>
            <a:srgbClr val="E9F8E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E7088"/>
                </a:solidFill>
              </a:defRPr>
            </a:pPr>
            <a:r>
              <a:t>Brier LR calibré</a:t>
            </a:r>
          </a:p>
          <a:p>
            <a:pPr>
              <a:defRPr sz="2800" b="1">
                <a:solidFill>
                  <a:srgbClr val="28A745"/>
                </a:solidFill>
              </a:defRPr>
            </a:pPr>
            <a:r>
              <a:t>0,1358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474720"/>
            <a:ext cx="3474720" cy="1325880"/>
          </a:xfrm>
          <a:prstGeom prst="roundRect">
            <a:avLst/>
          </a:prstGeom>
          <a:solidFill>
            <a:srgbClr val="FFEEF0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E7088"/>
                </a:solidFill>
              </a:defRPr>
            </a:pPr>
            <a:r>
              <a:t>Brier LR standard</a:t>
            </a:r>
          </a:p>
          <a:p>
            <a:pPr>
              <a:defRPr sz="2800" b="1">
                <a:solidFill>
                  <a:srgbClr val="DC3545"/>
                </a:solidFill>
              </a:defRPr>
            </a:pPr>
            <a:r>
              <a:t>0,1681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50292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2E45"/>
                </a:solidFill>
              </a:defRPr>
            </a:pPr>
            <a:r>
              <a:t>La calibration améliore la confiance dans les probabilités prédites.</a:t>
            </a:r>
          </a:p>
          <a:p>
            <a:pPr>
              <a:spcAft>
                <a:spcPts val="800"/>
              </a:spcAft>
              <a:defRPr sz="1300">
                <a:solidFill>
                  <a:srgbClr val="1A2E45"/>
                </a:solidFill>
              </a:defRPr>
            </a:pPr>
            <a:r>
              <a:t>Utile pour définir un seuil d'action robuste en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33A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18288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Lecture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1726"/>
                </a:solidFill>
              </a:defRPr>
            </a:pPr>
            <a:r>
              <a:t>Drivers du churn et stratégie de seuil</a:t>
            </a:r>
          </a:p>
        </p:txBody>
      </p:sp>
      <p:pic>
        <p:nvPicPr>
          <p:cNvPr id="5" name="Picture 4" descr="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486400" cy="3807946"/>
          </a:xfrm>
          <a:prstGeom prst="rect">
            <a:avLst/>
          </a:prstGeom>
        </p:spPr>
      </p:pic>
      <p:pic>
        <p:nvPicPr>
          <p:cNvPr id="6" name="Picture 5" descr="threshold_optim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394960" cy="203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33A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18288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Plan d'action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Recommandations opérationnelles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FFFFFF"/>
                </a:solidFill>
              </a:defRPr>
            </a:pPr>
            <a:r>
              <a:t>1. Déployer Logistic Regression calibrée comme moteur de scoring initial.</a:t>
            </a:r>
          </a:p>
          <a:p>
            <a:pPr>
              <a:spcAft>
                <a:spcPts val="800"/>
              </a:spcAft>
              <a:defRPr sz="2300">
                <a:solidFill>
                  <a:srgbClr val="FFFFFF"/>
                </a:solidFill>
              </a:defRPr>
            </a:pPr>
            <a:r>
              <a:t>2. Cibler prioritairement le top 10% clients à risque (precision@10% ≈ 0,754).</a:t>
            </a:r>
          </a:p>
          <a:p>
            <a:pPr>
              <a:spcAft>
                <a:spcPts val="800"/>
              </a:spcAft>
              <a:defRPr sz="2300">
                <a:solidFill>
                  <a:srgbClr val="FFFFFF"/>
                </a:solidFill>
              </a:defRPr>
            </a:pPr>
            <a:r>
              <a:t>3. Lancer un pilote A/B avec Customer Success.</a:t>
            </a:r>
          </a:p>
          <a:p>
            <a:pPr>
              <a:spcAft>
                <a:spcPts val="800"/>
              </a:spcAft>
              <a:defRPr sz="2300">
                <a:solidFill>
                  <a:srgbClr val="FFFFFF"/>
                </a:solidFill>
              </a:defRPr>
            </a:pPr>
            <a:r>
              <a:t>4. Suivre mensuellement: churn évité, ROI, dérive des performances.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