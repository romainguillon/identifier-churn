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2239"/>
                </a:solidFill>
              </a:defRPr>
            </a:pPr>
            <a:r>
              <a:t>Prédire le churn client: de l'analyse à la décision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06D83"/>
                </a:solidFill>
              </a:defRPr>
            </a:pPr>
            <a:r>
              <a:t>Version pédagogique pour comprendre le raisonnement complet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6858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F49"/>
                </a:solidFill>
              </a:defRPr>
            </a:pPr>
            <a:r>
              <a:t>Question: quels clients risquent de partir ?</a:t>
            </a:r>
          </a:p>
          <a:p>
            <a:pPr>
              <a:spcAft>
                <a:spcPts val="800"/>
              </a:spcAft>
              <a:defRPr sz="2000">
                <a:solidFill>
                  <a:srgbClr val="212F49"/>
                </a:solidFill>
              </a:defRPr>
            </a:pPr>
            <a:r>
              <a:t>But: agir en priorité sur les clients les plus à risque</a:t>
            </a:r>
          </a:p>
          <a:p>
            <a:pPr>
              <a:spcAft>
                <a:spcPts val="800"/>
              </a:spcAft>
              <a:defRPr sz="2000">
                <a:solidFill>
                  <a:srgbClr val="212F49"/>
                </a:solidFill>
              </a:defRPr>
            </a:pPr>
            <a:r>
              <a:t>Contraintes: budget limité, donc ciblage intelligent nécessaire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828800"/>
            <a:ext cx="36576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2962FF"/>
                </a:solidFill>
              </a:defRPr>
            </a:pPr>
            <a:r>
              <a:t>Ce que vous allez voir</a:t>
            </a:r>
          </a:p>
          <a:p>
            <a:pPr>
              <a:defRPr sz="1400">
                <a:solidFill>
                  <a:srgbClr val="212F49"/>
                </a:solidFill>
              </a:defRPr>
            </a:pPr>
            <a:r>
              <a:t>1) Pourquoi ce problème est important</a:t>
            </a:r>
            <a:br/>
            <a:r>
              <a:t>2) Comment le modèle a été construit</a:t>
            </a:r>
            <a:br/>
            <a:r>
              <a:t>3) Quels résultats on obtient</a:t>
            </a:r>
            <a:br/>
            <a:r>
              <a:t>4) Quelle décision recommander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212080"/>
            <a:ext cx="10789920" cy="914400"/>
          </a:xfrm>
          <a:prstGeom prst="roundRect">
            <a:avLst/>
          </a:prstGeom>
          <a:solidFill>
            <a:srgbClr val="E8F5E9"/>
          </a:solidFill>
          <a:ln>
            <a:solidFill>
              <a:srgbClr val="C7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E7D32"/>
                </a:solidFill>
              </a:defRPr>
            </a:pPr>
            <a:r>
              <a:t>Conclusion: Le modèle sert à prioriser les actions de rétention, pas à remplacer l'équipe métier.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2239"/>
                </a:solidFill>
              </a:defRPr>
            </a:pPr>
            <a:r>
              <a:t>1. Comprendre le problème métier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486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2962FF"/>
                </a:solidFill>
              </a:defRPr>
            </a:pPr>
            <a:r>
              <a:t>Pourquoi c'est un enjeu ?</a:t>
            </a:r>
          </a:p>
          <a:p>
            <a:pPr>
              <a:defRPr sz="1400">
                <a:solidFill>
                  <a:srgbClr val="212F49"/>
                </a:solidFill>
              </a:defRPr>
            </a:pPr>
            <a:r>
              <a:t>Le churn fait perdre des revenus. Si on ne contacte pas les bons clients, on dépense du budget sans impact.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371600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2962FF"/>
                </a:solidFill>
              </a:defRPr>
            </a:pPr>
            <a:r>
              <a:t>KPI principal</a:t>
            </a:r>
          </a:p>
          <a:p>
            <a:pPr>
              <a:defRPr sz="1400">
                <a:solidFill>
                  <a:srgbClr val="212F49"/>
                </a:solidFill>
              </a:defRPr>
            </a:pPr>
            <a:r>
              <a:t>precision@10%: parmi les 10% clients les plus risqués selon le modèle, combien churnent vraiment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F49"/>
                </a:solidFill>
              </a:defRPr>
            </a:pPr>
            <a:r>
              <a:t>Un taux global de churn autour de 26,5% est observé.</a:t>
            </a:r>
          </a:p>
          <a:p>
            <a:pPr>
              <a:spcAft>
                <a:spcPts val="800"/>
              </a:spcAft>
              <a:defRPr sz="1900">
                <a:solidFill>
                  <a:srgbClr val="212F49"/>
                </a:solidFill>
              </a:defRPr>
            </a:pPr>
            <a:r>
              <a:t>Le modèle doit aider à faire mieux qu'un ciblage aléatoire.</a:t>
            </a:r>
          </a:p>
          <a:p>
            <a:pPr>
              <a:spcAft>
                <a:spcPts val="800"/>
              </a:spcAft>
              <a:defRPr sz="1900">
                <a:solidFill>
                  <a:srgbClr val="212F49"/>
                </a:solidFill>
              </a:defRPr>
            </a:pPr>
            <a:r>
              <a:t>On cherche un score exploitable par des non-techniques.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94960"/>
            <a:ext cx="10789920" cy="914400"/>
          </a:xfrm>
          <a:prstGeom prst="roundRect">
            <a:avLst/>
          </a:prstGeom>
          <a:solidFill>
            <a:srgbClr val="E8F5E9"/>
          </a:solidFill>
          <a:ln>
            <a:solidFill>
              <a:srgbClr val="C7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E7D32"/>
                </a:solidFill>
              </a:defRPr>
            </a:pPr>
            <a:r>
              <a:t>Conclusion: Succès = mieux cibler, pas seulement avoir une bonne métrique globale.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2239"/>
                </a:solidFill>
              </a:defRPr>
            </a:pPr>
            <a:r>
              <a:t>2. Comment on a construit le modèle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5778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2962FF"/>
                </a:solidFill>
              </a:defRPr>
            </a:pPr>
            <a:r>
              <a:t>Données utilisées</a:t>
            </a:r>
          </a:p>
          <a:p>
            <a:pPr>
              <a:defRPr sz="1400">
                <a:solidFill>
                  <a:srgbClr val="212F49"/>
                </a:solidFill>
              </a:defRPr>
            </a:pPr>
            <a:r>
              <a:t>Ancienneté, type de contrat, moyen de paiement, services activés, charges mensuelles/totales.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371600"/>
            <a:ext cx="5029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2962FF"/>
                </a:solidFill>
              </a:defRPr>
            </a:pPr>
            <a:r>
              <a:t>Préparation des données</a:t>
            </a:r>
          </a:p>
          <a:p>
            <a:pPr>
              <a:defRPr sz="1400">
                <a:solidFill>
                  <a:srgbClr val="212F49"/>
                </a:solidFill>
              </a:defRPr>
            </a:pPr>
            <a:r>
              <a:t>Imputation des valeurs manquantes, normalisation numérique, encodage des variables catégorielles.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F49"/>
                </a:solidFill>
              </a:defRPr>
            </a:pPr>
            <a:r>
              <a:t>Plusieurs modèles ont été comparés: Logistic Regression, Random Forest, XGBoost, LightGBM...</a:t>
            </a:r>
          </a:p>
          <a:p>
            <a:pPr>
              <a:spcAft>
                <a:spcPts val="800"/>
              </a:spcAft>
              <a:defRPr sz="1800">
                <a:solidFill>
                  <a:srgbClr val="212F49"/>
                </a:solidFill>
              </a:defRPr>
            </a:pPr>
            <a:r>
              <a:t>Ensuite, calibration des probabilités pour rendre le score plus fiable.</a:t>
            </a:r>
          </a:p>
          <a:p>
            <a:pPr>
              <a:spcAft>
                <a:spcPts val="800"/>
              </a:spcAft>
              <a:defRPr sz="1800">
                <a:solidFill>
                  <a:srgbClr val="212F49"/>
                </a:solidFill>
              </a:defRPr>
            </a:pPr>
            <a:r>
              <a:t>Les performances sont évaluées sur des données jamais vues.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94960"/>
            <a:ext cx="10789920" cy="914400"/>
          </a:xfrm>
          <a:prstGeom prst="roundRect">
            <a:avLst/>
          </a:prstGeom>
          <a:solidFill>
            <a:srgbClr val="E8F5E9"/>
          </a:solidFill>
          <a:ln>
            <a:solidFill>
              <a:srgbClr val="C7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E7D32"/>
                </a:solidFill>
              </a:defRPr>
            </a:pPr>
            <a:r>
              <a:t>Conclusion: On compare plusieurs options avant de choisir le modèle final.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2239"/>
                </a:solidFill>
              </a:defRPr>
            </a:pPr>
            <a:r>
              <a:t>3. Résultats de comparaison des modèles</a:t>
            </a:r>
          </a:p>
        </p:txBody>
      </p:sp>
      <p:pic>
        <p:nvPicPr>
          <p:cNvPr id="3" name="Picture 2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7498079" cy="316921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321040" y="1554480"/>
            <a:ext cx="35661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2962FF"/>
                </a:solidFill>
              </a:defRPr>
            </a:pPr>
            <a:r>
              <a:t>Comment lire ce graphique ?</a:t>
            </a:r>
          </a:p>
          <a:p>
            <a:pPr>
              <a:defRPr sz="1400">
                <a:solidFill>
                  <a:srgbClr val="212F49"/>
                </a:solidFill>
              </a:defRPr>
            </a:pPr>
            <a:r>
              <a:t>Chaque barre compare un modèle sur une métrique. Plus c'est haut (sauf Brier), mieux c'est.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3200400"/>
            <a:ext cx="35661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2962FF"/>
                </a:solidFill>
              </a:defRPr>
            </a:pPr>
            <a:r>
              <a:t>Ce qu'on retient</a:t>
            </a:r>
          </a:p>
          <a:p>
            <a:pPr>
              <a:defRPr sz="1400">
                <a:solidFill>
                  <a:srgbClr val="212F49"/>
                </a:solidFill>
              </a:defRPr>
            </a:pPr>
            <a:r>
              <a:t>Les modèles sont proches en ROC-AUC, mais la qualité métier dépend du ciblage (precision@10%).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94960"/>
            <a:ext cx="10789920" cy="914400"/>
          </a:xfrm>
          <a:prstGeom prst="roundRect">
            <a:avLst/>
          </a:prstGeom>
          <a:solidFill>
            <a:srgbClr val="E8F5E9"/>
          </a:solidFill>
          <a:ln>
            <a:solidFill>
              <a:srgbClr val="C7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E7D32"/>
                </a:solidFill>
              </a:defRPr>
            </a:pPr>
            <a:r>
              <a:t>Conclusion: La performance pure ne suffit pas: on choisit un modèle utile pour la décision opérationnelle.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2239"/>
                </a:solidFill>
              </a:defRPr>
            </a:pPr>
            <a:r>
              <a:t>4. Pourquoi la calibration change la décision</a:t>
            </a:r>
          </a:p>
        </p:txBody>
      </p:sp>
      <p:pic>
        <p:nvPicPr>
          <p:cNvPr id="3" name="Picture 2" descr="calibr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7132320" cy="269582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046720" y="1645920"/>
            <a:ext cx="3749039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2962FF"/>
                </a:solidFill>
              </a:defRPr>
            </a:pPr>
            <a:r>
              <a:t>Ce que montre la calibration</a:t>
            </a:r>
          </a:p>
          <a:p>
            <a:pPr>
              <a:defRPr sz="1400">
                <a:solidFill>
                  <a:srgbClr val="212F49"/>
                </a:solidFill>
              </a:defRPr>
            </a:pPr>
            <a:r>
              <a:t>Quand le modèle dit 70% de risque, on veut que ce soit proche de la réalité.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3291840"/>
            <a:ext cx="3749039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2962FF"/>
                </a:solidFill>
              </a:defRPr>
            </a:pPr>
            <a:r>
              <a:t>Résultat chiffré</a:t>
            </a:r>
          </a:p>
          <a:p>
            <a:pPr>
              <a:defRPr sz="1400">
                <a:solidFill>
                  <a:srgbClr val="212F49"/>
                </a:solidFill>
              </a:defRPr>
            </a:pPr>
            <a:r>
              <a:t>Brier score Logistic calibrée = 0,1358 vs 0,1681 sans calibration.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94960"/>
            <a:ext cx="10789920" cy="914400"/>
          </a:xfrm>
          <a:prstGeom prst="roundRect">
            <a:avLst/>
          </a:prstGeom>
          <a:solidFill>
            <a:srgbClr val="E8F5E9"/>
          </a:solidFill>
          <a:ln>
            <a:solidFill>
              <a:srgbClr val="C7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E7D32"/>
                </a:solidFill>
              </a:defRPr>
            </a:pPr>
            <a:r>
              <a:t>Conclusion: Le modèle calibré est retenu: ses probabilités sont plus fiables pour fixer un seuil de campagne.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2239"/>
                </a:solidFill>
              </a:defRPr>
            </a:pPr>
            <a:r>
              <a:t>5. Ce que l'équipe métier doit faire concrètement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F49"/>
                </a:solidFill>
              </a:defRPr>
            </a:pPr>
            <a:r>
              <a:t>1) Trier les clients par score de churn (du plus risqué au moins risqué).</a:t>
            </a:r>
          </a:p>
          <a:p>
            <a:pPr>
              <a:spcAft>
                <a:spcPts val="800"/>
              </a:spcAft>
              <a:defRPr sz="2000">
                <a:solidFill>
                  <a:srgbClr val="212F49"/>
                </a:solidFill>
              </a:defRPr>
            </a:pPr>
            <a:r>
              <a:t>2) Cibler d'abord le top 10% (precision@10% ≈ 0,754).</a:t>
            </a:r>
          </a:p>
          <a:p>
            <a:pPr>
              <a:spcAft>
                <a:spcPts val="800"/>
              </a:spcAft>
              <a:defRPr sz="2000">
                <a:solidFill>
                  <a:srgbClr val="212F49"/>
                </a:solidFill>
              </a:defRPr>
            </a:pPr>
            <a:r>
              <a:t>3) Prioriser les profils à risque: faible ancienneté, month-to-month, electronic check, sans services de support/sécurité.</a:t>
            </a:r>
          </a:p>
          <a:p>
            <a:pPr>
              <a:spcAft>
                <a:spcPts val="800"/>
              </a:spcAft>
              <a:defRPr sz="2000">
                <a:solidFill>
                  <a:srgbClr val="212F49"/>
                </a:solidFill>
              </a:defRPr>
            </a:pPr>
            <a:r>
              <a:t>4) Suivre mensuellement: churn évité, coût de campagne, ROI.</a:t>
            </a:r>
          </a:p>
        </p:txBody>
      </p:sp>
      <p:pic>
        <p:nvPicPr>
          <p:cNvPr id="4" name="Picture 3" descr="threshold_optim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977639"/>
            <a:ext cx="5303520" cy="2004588"/>
          </a:xfrm>
          <a:prstGeom prst="rect">
            <a:avLst/>
          </a:prstGeom>
        </p:spPr>
      </p:pic>
      <p:pic>
        <p:nvPicPr>
          <p:cNvPr id="5" name="Picture 4" descr="permutation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977639"/>
            <a:ext cx="5303520" cy="36810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394960"/>
            <a:ext cx="10789920" cy="914400"/>
          </a:xfrm>
          <a:prstGeom prst="roundRect">
            <a:avLst/>
          </a:prstGeom>
          <a:solidFill>
            <a:srgbClr val="E8F5E9"/>
          </a:solidFill>
          <a:ln>
            <a:solidFill>
              <a:srgbClr val="C7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E7D32"/>
                </a:solidFill>
              </a:defRPr>
            </a:pPr>
            <a:r>
              <a:t>Conclusion: Décision finale recommandée: déployer Logistic Regression calibrée et piloter la campagne sur le top clients à risque.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2239"/>
                </a:solidFill>
              </a:defRPr>
            </a:pPr>
            <a:r>
              <a:t>6. Mode d'emploi commercial (très concret)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5669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2962FF"/>
                </a:solidFill>
              </a:defRPr>
            </a:pPr>
            <a:r>
              <a:t>Fichier à utiliser</a:t>
            </a:r>
          </a:p>
          <a:p>
            <a:pPr>
              <a:defRPr sz="1400">
                <a:solidFill>
                  <a:srgbClr val="212F49"/>
                </a:solidFill>
              </a:defRPr>
            </a:pPr>
            <a:r>
              <a:t>outputs/ciblage_top10_commercial.csv</a:t>
            </a:r>
            <a:br/>
            <a:r>
              <a:t>(127 clients déjà triés du plus risqué au moins risqué)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325880"/>
            <a:ext cx="47548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2962FF"/>
                </a:solidFill>
              </a:defRPr>
            </a:pPr>
            <a:r>
              <a:t>Colonnes utiles</a:t>
            </a:r>
          </a:p>
          <a:p>
            <a:pPr>
              <a:defRPr sz="1400">
                <a:solidFill>
                  <a:srgbClr val="212F49"/>
                </a:solidFill>
              </a:defRPr>
            </a:pPr>
            <a:r>
              <a:t>customerID, proba_churn, priorite, action_recommandee, Contract, PaymentMethod, tenure...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972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F49"/>
                </a:solidFill>
              </a:defRPr>
            </a:pPr>
            <a:r>
              <a:t>Etape 1: ouvrir le fichier et filtrer priorite = 'P1 - Appel immediat'.</a:t>
            </a:r>
          </a:p>
          <a:p>
            <a:pPr>
              <a:spcAft>
                <a:spcPts val="800"/>
              </a:spcAft>
              <a:defRPr sz="1800">
                <a:solidFill>
                  <a:srgbClr val="212F49"/>
                </a:solidFill>
              </a:defRPr>
            </a:pPr>
            <a:r>
              <a:t>Etape 2: appeler dans l'ordre de proba_churn (du plus élevé au plus faible).</a:t>
            </a:r>
          </a:p>
          <a:p>
            <a:pPr>
              <a:spcAft>
                <a:spcPts val="800"/>
              </a:spcAft>
              <a:defRPr sz="1800">
                <a:solidFill>
                  <a:srgbClr val="212F49"/>
                </a:solidFill>
              </a:defRPr>
            </a:pPr>
            <a:r>
              <a:t>Etape 3: utiliser action_recommandee comme trame d'argumentaire.</a:t>
            </a:r>
          </a:p>
          <a:p>
            <a:pPr>
              <a:spcAft>
                <a:spcPts val="800"/>
              </a:spcAft>
              <a:defRPr sz="1800">
                <a:solidFill>
                  <a:srgbClr val="212F49"/>
                </a:solidFill>
              </a:defRPr>
            </a:pPr>
            <a:r>
              <a:t>Etape 4: logger le résultat de l'appel (accepté, refus, rappel) pour mesurer le ROI.</a:t>
            </a:r>
          </a:p>
          <a:p>
            <a:pPr>
              <a:spcAft>
                <a:spcPts val="800"/>
              </a:spcAft>
              <a:defRPr sz="1800">
                <a:solidFill>
                  <a:srgbClr val="212F49"/>
                </a:solidFill>
              </a:defRPr>
            </a:pPr>
            <a:r>
              <a:t>Etape 5: quand les P1 sont traités, passer aux P2 (même logique).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94960"/>
            <a:ext cx="10789920" cy="914400"/>
          </a:xfrm>
          <a:prstGeom prst="roundRect">
            <a:avLst/>
          </a:prstGeom>
          <a:solidFill>
            <a:srgbClr val="E8F5E9"/>
          </a:solidFill>
          <a:ln>
            <a:solidFill>
              <a:srgbClr val="C7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E7D32"/>
                </a:solidFill>
              </a:defRPr>
            </a:pPr>
            <a:r>
              <a:t>Conclusion: En pratique: le commercial n'a pas besoin du modèle, seulement de la liste priorisée et de l'action recommandée.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